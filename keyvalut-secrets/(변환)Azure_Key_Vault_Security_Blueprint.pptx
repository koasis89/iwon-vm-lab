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31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99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8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49" y="1980314"/>
            <a:ext cx="824023" cy="93367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895" y="1907215"/>
            <a:ext cx="943640" cy="1129709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086890" y="2418907"/>
            <a:ext cx="1026706" cy="46517"/>
          </a:xfrm>
          <a:prstGeom prst="rect">
            <a:avLst/>
          </a:prstGeom>
          <a:solidFill>
            <a:srgbClr val="464646"/>
          </a:solidFill>
          <a:ln/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099" y="2239483"/>
            <a:ext cx="239233" cy="37878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17823" y="3332642"/>
            <a:ext cx="5741581" cy="6246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하드코딩 제거 및 </a:t>
            </a:r>
            <a:r>
              <a:rPr lang="en-US" sz="1502" b="1" dirty="0" err="1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</a:t>
            </a: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Secret </a:t>
            </a:r>
            <a:r>
              <a:rPr lang="ko-KR" alt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주입 파이프라인 </a:t>
            </a:r>
            <a:r>
              <a:rPr lang="en-US" sz="1502" b="1" dirty="0" err="1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2" b="1" dirty="0" err="1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지침서</a:t>
            </a:r>
            <a:endParaRPr lang="en-US" sz="1502" b="1" dirty="0">
              <a:solidFill>
                <a:srgbClr val="46464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endParaRPr lang="en-US" sz="1502" b="1" dirty="0">
              <a:solidFill>
                <a:srgbClr val="46464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502" b="1" dirty="0" err="1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502" b="1" dirty="0" err="1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r>
              <a:rPr lang="en-US" sz="1502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(Development), 인프라(Infrastructure), 운영(Operations) 팀</a:t>
            </a:r>
            <a:endParaRPr lang="en-US" sz="1502" dirty="0"/>
          </a:p>
        </p:txBody>
      </p:sp>
      <p:sp>
        <p:nvSpPr>
          <p:cNvPr id="10" name="Text 4"/>
          <p:cNvSpPr/>
          <p:nvPr/>
        </p:nvSpPr>
        <p:spPr>
          <a:xfrm>
            <a:off x="445238" y="345558"/>
            <a:ext cx="8014291" cy="121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ko-KR" sz="2509" b="1" dirty="0">
                <a:solidFill>
                  <a:srgbClr val="5B5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Development</a:t>
            </a:r>
            <a:endParaRPr lang="en-US" altLang="ko-KR" sz="2509" dirty="0"/>
          </a:p>
          <a:p>
            <a:pPr marL="0" indent="0" algn="ctr">
              <a:buNone/>
            </a:pPr>
            <a:r>
              <a:rPr lang="en-US" sz="2509" b="1" dirty="0">
                <a:solidFill>
                  <a:srgbClr val="5B5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Azure Key Vault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6" y="4312831"/>
            <a:ext cx="8233587" cy="4651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4389253"/>
            <a:ext cx="6628735" cy="2890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시점에만 환경변수로 주입되어 소스코드 내 비밀키 유출을 원천 차단합니다.</a:t>
            </a:r>
            <a:endParaRPr lang="en-US" sz="158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195" y="2581718"/>
            <a:ext cx="564855" cy="1428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372" y="1156291"/>
            <a:ext cx="2369067" cy="29006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3942" y="1953733"/>
            <a:ext cx="843959" cy="89712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548991" y="3100055"/>
            <a:ext cx="1950410" cy="7376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93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암호 보관(iwon-</a:t>
            </a:r>
            <a:endParaRPr lang="en-US" sz="1593" dirty="0"/>
          </a:p>
          <a:p>
            <a:pPr marL="0" indent="0" algn="ctr">
              <a:buNone/>
            </a:pPr>
            <a:r>
              <a:rPr lang="en-US" sz="1593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wallet-aes-key-</a:t>
            </a:r>
            <a:endParaRPr lang="en-US" sz="1593" dirty="0"/>
          </a:p>
          <a:p>
            <a:pPr marL="0" indent="0" algn="ctr">
              <a:buNone/>
            </a:pPr>
            <a:r>
              <a:rPr lang="en-US" sz="1593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base64)</a:t>
            </a:r>
            <a:endParaRPr lang="en-US" sz="1593" dirty="0"/>
          </a:p>
        </p:txBody>
      </p:sp>
      <p:sp>
        <p:nvSpPr>
          <p:cNvPr id="11" name="Text 4"/>
          <p:cNvSpPr/>
          <p:nvPr/>
        </p:nvSpPr>
        <p:spPr>
          <a:xfrm>
            <a:off x="6791547" y="1342360"/>
            <a:ext cx="1452009" cy="2558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2" b="1" dirty="0">
                <a:solidFill>
                  <a:srgbClr val="4B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Key Vault</a:t>
            </a:r>
            <a:endParaRPr lang="en-US" sz="1562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805" y="1156291"/>
            <a:ext cx="2372390" cy="290401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6762" y="1953733"/>
            <a:ext cx="893799" cy="897122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890852" y="3103378"/>
            <a:ext cx="1392201" cy="491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</a:t>
            </a:r>
            <a:r>
              <a:rPr lang="en-US" sz="1640" b="1" dirty="0" err="1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r>
              <a:rPr lang="en-US" sz="1640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40" b="1" dirty="0" err="1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런타임</a:t>
            </a:r>
            <a:endParaRPr lang="en-US" sz="1640" b="1" dirty="0">
              <a:solidFill>
                <a:srgbClr val="2F2F2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640" b="1" dirty="0" err="1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매핑</a:t>
            </a:r>
            <a:r>
              <a:rPr lang="en-US" sz="1640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수행.</a:t>
            </a:r>
            <a:endParaRPr lang="en-US" sz="1640" dirty="0"/>
          </a:p>
        </p:txBody>
      </p:sp>
      <p:sp>
        <p:nvSpPr>
          <p:cNvPr id="15" name="Text 6"/>
          <p:cNvSpPr/>
          <p:nvPr/>
        </p:nvSpPr>
        <p:spPr>
          <a:xfrm>
            <a:off x="3924078" y="1342360"/>
            <a:ext cx="1312456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3" b="1" dirty="0">
                <a:solidFill>
                  <a:srgbClr val="4C4C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</a:t>
            </a:r>
            <a:endParaRPr lang="en-US" sz="1633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4273" y="2432198"/>
            <a:ext cx="571500" cy="312331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0951" y="2535201"/>
            <a:ext cx="574823" cy="196038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561" y="1156291"/>
            <a:ext cx="2372390" cy="2897372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455206" y="3093410"/>
            <a:ext cx="2362422" cy="7309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</a:t>
            </a: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껍데기만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존재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비밀키유출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9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차단</a:t>
            </a:r>
            <a:r>
              <a:rPr lang="en-US" sz="1609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9" dirty="0"/>
          </a:p>
        </p:txBody>
      </p:sp>
      <p:sp>
        <p:nvSpPr>
          <p:cNvPr id="20" name="Text 8"/>
          <p:cNvSpPr/>
          <p:nvPr/>
        </p:nvSpPr>
        <p:spPr>
          <a:xfrm>
            <a:off x="1246003" y="1990282"/>
            <a:ext cx="820701" cy="8107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023" b="1" dirty="0">
                <a:solidFill>
                  <a:srgbClr val="90BE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[]</a:t>
            </a:r>
            <a:endParaRPr lang="en-US" sz="6023" dirty="0"/>
          </a:p>
        </p:txBody>
      </p:sp>
      <p:sp>
        <p:nvSpPr>
          <p:cNvPr id="21" name="Text 9"/>
          <p:cNvSpPr/>
          <p:nvPr/>
        </p:nvSpPr>
        <p:spPr>
          <a:xfrm>
            <a:off x="1066578" y="1339038"/>
            <a:ext cx="1156291" cy="225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17" b="1" dirty="0">
                <a:solidFill>
                  <a:srgbClr val="5656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</a:t>
            </a:r>
          </a:p>
          <a:p>
            <a:pPr marL="0" indent="0" algn="l">
              <a:buNone/>
            </a:pPr>
            <a:r>
              <a:rPr lang="en-US" sz="1517" b="1" dirty="0">
                <a:solidFill>
                  <a:srgbClr val="565656"/>
                </a:solidFill>
                <a:latin typeface="Inter" pitchFamily="34" charset="0"/>
                <a:ea typeface="Inter" pitchFamily="34" charset="-122"/>
              </a:rPr>
              <a:t>(*.</a:t>
            </a:r>
            <a:r>
              <a:rPr lang="en-US" sz="1517" b="1" dirty="0" err="1">
                <a:solidFill>
                  <a:srgbClr val="565656"/>
                </a:solidFill>
                <a:latin typeface="Inter" pitchFamily="34" charset="0"/>
                <a:ea typeface="Inter" pitchFamily="34" charset="-122"/>
              </a:rPr>
              <a:t>yml</a:t>
            </a:r>
            <a:r>
              <a:rPr lang="en-US" sz="1517" b="1" dirty="0">
                <a:solidFill>
                  <a:srgbClr val="565656"/>
                </a:solidFill>
                <a:latin typeface="Inter" pitchFamily="34" charset="0"/>
                <a:ea typeface="Inter" pitchFamily="34" charset="-122"/>
              </a:rPr>
              <a:t>)</a:t>
            </a:r>
            <a:endParaRPr lang="en-US" sz="1517" dirty="0"/>
          </a:p>
        </p:txBody>
      </p:sp>
      <p:sp>
        <p:nvSpPr>
          <p:cNvPr id="22" name="Text 10"/>
          <p:cNvSpPr/>
          <p:nvPr/>
        </p:nvSpPr>
        <p:spPr>
          <a:xfrm>
            <a:off x="348881" y="282427"/>
            <a:ext cx="6259919" cy="4651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Vault 기반 </a:t>
            </a:r>
            <a:r>
              <a:rPr lang="en-US" sz="2781" b="1" dirty="0" err="1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r>
              <a:rPr 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Secret </a:t>
            </a:r>
            <a:r>
              <a:rPr lang="ko-KR" alt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r>
              <a:rPr 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en-US" sz="2781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아키텍처</a:t>
            </a:r>
            <a:endParaRPr lang="en-US" sz="27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6" y="1269262"/>
            <a:ext cx="4193215" cy="197366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28945" y="1010093"/>
            <a:ext cx="966898" cy="272459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6" name="Text 2"/>
          <p:cNvSpPr/>
          <p:nvPr/>
        </p:nvSpPr>
        <p:spPr>
          <a:xfrm>
            <a:off x="408689" y="1049965"/>
            <a:ext cx="824023" cy="1794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3" b="1" dirty="0">
                <a:solidFill>
                  <a:srgbClr val="47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Bad/Before</a:t>
            </a:r>
            <a:endParaRPr lang="en-US" sz="1303" dirty="0"/>
          </a:p>
        </p:txBody>
      </p:sp>
      <p:sp>
        <p:nvSpPr>
          <p:cNvPr id="7" name="Text 3"/>
          <p:cNvSpPr/>
          <p:nvPr/>
        </p:nvSpPr>
        <p:spPr>
          <a:xfrm>
            <a:off x="322299" y="282427"/>
            <a:ext cx="5000625" cy="382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49" b="1" dirty="0">
                <a:solidFill>
                  <a:srgbClr val="5B5B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1.개발 지침: 환경변수 기반 YAML 설정</a:t>
            </a:r>
            <a:endParaRPr lang="en-US" sz="2449" dirty="0"/>
          </a:p>
        </p:txBody>
      </p:sp>
      <p:sp>
        <p:nvSpPr>
          <p:cNvPr id="8" name="Text 4"/>
          <p:cNvSpPr/>
          <p:nvPr/>
        </p:nvSpPr>
        <p:spPr>
          <a:xfrm>
            <a:off x="4711552" y="3322674"/>
            <a:ext cx="2362422" cy="2425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3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환경변수 치환을 대기하는 형태.</a:t>
            </a:r>
            <a:endParaRPr lang="en-US" sz="142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99" y="1262616"/>
            <a:ext cx="4176602" cy="198695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74" y="1388878"/>
            <a:ext cx="245878" cy="1794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2409" y="2146448"/>
            <a:ext cx="2571750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5" b="1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${IWON_WALLET_AES_KEY_BASE64}</a:t>
            </a:r>
            <a:endParaRPr lang="en-US" sz="1185" dirty="0"/>
          </a:p>
        </p:txBody>
      </p:sp>
      <p:sp>
        <p:nvSpPr>
          <p:cNvPr id="12" name="Text 6"/>
          <p:cNvSpPr/>
          <p:nvPr/>
        </p:nvSpPr>
        <p:spPr>
          <a:xfrm>
            <a:off x="5819598" y="2189642"/>
            <a:ext cx="56485" cy="1461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89" b="1" dirty="0">
                <a:solidFill>
                  <a:srgbClr val="7777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989" dirty="0"/>
          </a:p>
        </p:txBody>
      </p:sp>
      <p:sp>
        <p:nvSpPr>
          <p:cNvPr id="13" name="Text 7"/>
          <p:cNvSpPr/>
          <p:nvPr/>
        </p:nvSpPr>
        <p:spPr>
          <a:xfrm>
            <a:off x="4743051" y="2156416"/>
            <a:ext cx="1063256" cy="202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6" b="1" dirty="0">
                <a:solidFill>
                  <a:srgbClr val="94AD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aesKeyBase64</a:t>
            </a:r>
            <a:endParaRPr lang="en-US" sz="1256" dirty="0"/>
          </a:p>
        </p:txBody>
      </p:sp>
      <p:sp>
        <p:nvSpPr>
          <p:cNvPr id="14" name="Shape 8"/>
          <p:cNvSpPr/>
          <p:nvPr/>
        </p:nvSpPr>
        <p:spPr>
          <a:xfrm>
            <a:off x="4648422" y="1010093"/>
            <a:ext cx="980189" cy="272459"/>
          </a:xfrm>
          <a:prstGeom prst="rect">
            <a:avLst/>
          </a:prstGeom>
          <a:solidFill>
            <a:srgbClr val="FDFEFE"/>
          </a:solidFill>
          <a:ln/>
        </p:spPr>
      </p:sp>
      <p:sp>
        <p:nvSpPr>
          <p:cNvPr id="15" name="Text 9"/>
          <p:cNvSpPr/>
          <p:nvPr/>
        </p:nvSpPr>
        <p:spPr>
          <a:xfrm>
            <a:off x="4741456" y="1049965"/>
            <a:ext cx="810733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29" b="1" dirty="0">
                <a:solidFill>
                  <a:srgbClr val="45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Good/After</a:t>
            </a:r>
            <a:endParaRPr lang="en-US" sz="1329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363" y="4246378"/>
            <a:ext cx="8502724" cy="5515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4247" y="4399221"/>
            <a:ext cx="7672055" cy="2492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3" b="1" dirty="0">
                <a:solidFill>
                  <a:srgbClr val="C3C3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/ 스테이징 / 개발 환경별로 Key Vault secret만 분리하면 동일한 배포 산출물을 재사용할 수 있습니다.</a:t>
            </a:r>
            <a:endParaRPr lang="en-US" sz="1363" dirty="0"/>
          </a:p>
        </p:txBody>
      </p:sp>
      <p:sp>
        <p:nvSpPr>
          <p:cNvPr id="18" name="Shape 11"/>
          <p:cNvSpPr/>
          <p:nvPr/>
        </p:nvSpPr>
        <p:spPr>
          <a:xfrm>
            <a:off x="332267" y="3980564"/>
            <a:ext cx="850605" cy="265814"/>
          </a:xfrm>
          <a:prstGeom prst="rect">
            <a:avLst/>
          </a:prstGeom>
          <a:solidFill>
            <a:srgbClr val="FDFEFD"/>
          </a:solidFill>
          <a:ln/>
        </p:spPr>
      </p:sp>
      <p:sp>
        <p:nvSpPr>
          <p:cNvPr id="19" name="Text 12"/>
          <p:cNvSpPr/>
          <p:nvPr/>
        </p:nvSpPr>
        <p:spPr>
          <a:xfrm>
            <a:off x="375462" y="4027081"/>
            <a:ext cx="740956" cy="1893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6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Box</a:t>
            </a:r>
            <a:endParaRPr lang="en-US" sz="1206" dirty="0"/>
          </a:p>
        </p:txBody>
      </p:sp>
      <p:sp>
        <p:nvSpPr>
          <p:cNvPr id="20" name="Text 13"/>
          <p:cNvSpPr/>
          <p:nvPr/>
        </p:nvSpPr>
        <p:spPr>
          <a:xfrm>
            <a:off x="388753" y="3309384"/>
            <a:ext cx="2860823" cy="4585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1" b="1" dirty="0">
                <a:solidFill>
                  <a:srgbClr val="403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평문 키값이 그대로 노출된 YAML형태</a:t>
            </a:r>
            <a:endParaRPr lang="en-US" sz="1431" dirty="0"/>
          </a:p>
          <a:p>
            <a:pPr marL="0" indent="0" algn="l">
              <a:buNone/>
            </a:pPr>
            <a:r>
              <a:rPr lang="en-US" sz="1431" b="1" dirty="0">
                <a:solidFill>
                  <a:srgbClr val="403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(저장소 유출 시 보안사고 발생).</a:t>
            </a:r>
            <a:endParaRPr lang="en-US" sz="1431" dirty="0"/>
          </a:p>
        </p:txBody>
      </p:sp>
      <p:sp>
        <p:nvSpPr>
          <p:cNvPr id="21" name="Text 14"/>
          <p:cNvSpPr/>
          <p:nvPr/>
        </p:nvSpPr>
        <p:spPr>
          <a:xfrm>
            <a:off x="2089962" y="2159738"/>
            <a:ext cx="1907215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8" b="1" dirty="0">
                <a:solidFill>
                  <a:srgbClr val="914D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-a1b2c3d4e5f6g7h8...-</a:t>
            </a:r>
            <a:endParaRPr lang="en-US" sz="1248" dirty="0"/>
          </a:p>
        </p:txBody>
      </p:sp>
      <p:sp>
        <p:nvSpPr>
          <p:cNvPr id="22" name="Text 15"/>
          <p:cNvSpPr/>
          <p:nvPr/>
        </p:nvSpPr>
        <p:spPr>
          <a:xfrm>
            <a:off x="1943765" y="2179674"/>
            <a:ext cx="59808" cy="156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747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410" dirty="0"/>
          </a:p>
        </p:txBody>
      </p:sp>
      <p:sp>
        <p:nvSpPr>
          <p:cNvPr id="23" name="Text 16"/>
          <p:cNvSpPr/>
          <p:nvPr/>
        </p:nvSpPr>
        <p:spPr>
          <a:xfrm>
            <a:off x="867218" y="2156416"/>
            <a:ext cx="1069901" cy="202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6" b="1" dirty="0">
                <a:solidFill>
                  <a:srgbClr val="96AE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aesKeyBase64</a:t>
            </a:r>
            <a:endParaRPr lang="en-US" sz="1256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9892" y="1385555"/>
            <a:ext cx="182747" cy="1827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37" y="2947212"/>
            <a:ext cx="8605727" cy="285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2523" y="3229640"/>
            <a:ext cx="8638953" cy="1624788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7" name="Text 3"/>
          <p:cNvSpPr/>
          <p:nvPr/>
        </p:nvSpPr>
        <p:spPr>
          <a:xfrm>
            <a:off x="3628360" y="4306186"/>
            <a:ext cx="15483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848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String aesKeyBase64;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974294" y="3827721"/>
            <a:ext cx="1704532" cy="4153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1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임시/로컬 변수명을 제거하고</a:t>
            </a:r>
            <a:endParaRPr lang="en-US" sz="1101" dirty="0"/>
          </a:p>
          <a:p>
            <a:pPr marL="0" indent="0" algn="l">
              <a:buNone/>
            </a:pPr>
            <a:r>
              <a:rPr lang="en-US" sz="1101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비밀관리 연동임을 명시.</a:t>
            </a:r>
            <a:endParaRPr lang="en-US" sz="1101" dirty="0"/>
          </a:p>
        </p:txBody>
      </p:sp>
      <p:sp>
        <p:nvSpPr>
          <p:cNvPr id="9" name="Text 5"/>
          <p:cNvSpPr/>
          <p:nvPr/>
        </p:nvSpPr>
        <p:spPr>
          <a:xfrm>
            <a:off x="3618392" y="4163311"/>
            <a:ext cx="1877311" cy="1329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8" b="1" dirty="0">
                <a:solidFill>
                  <a:srgbClr val="494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(Value("${wallet.crypto.aes-key)")</a:t>
            </a:r>
            <a:endParaRPr lang="en-US" sz="908" dirty="0"/>
          </a:p>
        </p:txBody>
      </p:sp>
      <p:sp>
        <p:nvSpPr>
          <p:cNvPr id="10" name="Text 6"/>
          <p:cNvSpPr/>
          <p:nvPr/>
        </p:nvSpPr>
        <p:spPr>
          <a:xfrm>
            <a:off x="3625038" y="4013791"/>
            <a:ext cx="3126637" cy="1362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6" b="1" dirty="0">
                <a:solidFill>
                  <a:srgbClr val="749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//배포시점에완깅연수(TWON_WALLET_AES_KEY_BASE64)르주입됨.</a:t>
            </a:r>
            <a:endParaRPr lang="en-US" sz="806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352" y="4103503"/>
            <a:ext cx="152843" cy="897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5038" y="3857625"/>
            <a:ext cx="2591686" cy="149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7595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//외부 비밀관리(ExternalSecretManagement)연등.</a:t>
            </a:r>
            <a:endParaRPr lang="en-US" sz="816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56" y="3744654"/>
            <a:ext cx="2727916" cy="81405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3980564"/>
            <a:ext cx="754247" cy="54491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3774558"/>
            <a:ext cx="750924" cy="46517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841137" y="3522035"/>
            <a:ext cx="342235" cy="156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88" b="1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188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9288" y="3558584"/>
            <a:ext cx="122939" cy="9635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8241" y="3914110"/>
            <a:ext cx="2638203" cy="4485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8" b="1" dirty="0">
                <a:solidFill>
                  <a:srgbClr val="515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1/T0D0:입시/로겉 법수명 사용통.추후 변경 필요.1/</a:t>
            </a:r>
            <a:endParaRPr lang="en-US" sz="968" dirty="0"/>
          </a:p>
          <a:p>
            <a:pPr marL="0" indent="0" algn="l">
              <a:buNone/>
            </a:pPr>
            <a:r>
              <a:rPr lang="en-US" sz="968" b="1" dirty="0">
                <a:solidFill>
                  <a:srgbClr val="515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©Value("$(wal임시/로컬-key-temp-local}")//</a:t>
            </a:r>
            <a:endParaRPr lang="en-US" sz="968" dirty="0"/>
          </a:p>
          <a:p>
            <a:pPr marL="0" indent="0" algn="l">
              <a:buNone/>
            </a:pPr>
            <a:r>
              <a:rPr lang="en-US" sz="968" b="1" dirty="0">
                <a:solidFill>
                  <a:srgbClr val="515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String aeskeyBase64,</a:t>
            </a:r>
            <a:endParaRPr lang="en-US" sz="968" dirty="0"/>
          </a:p>
        </p:txBody>
      </p:sp>
      <p:sp>
        <p:nvSpPr>
          <p:cNvPr id="19" name="Text 10"/>
          <p:cNvSpPr/>
          <p:nvPr/>
        </p:nvSpPr>
        <p:spPr>
          <a:xfrm>
            <a:off x="1598206" y="3518712"/>
            <a:ext cx="435270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88" b="1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188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137" y="833991"/>
            <a:ext cx="8638953" cy="198695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81578" y="1631433"/>
            <a:ext cx="1973802" cy="6246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시 Spring </a:t>
            </a: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프로퍼티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키와</a:t>
            </a:r>
            <a:endParaRPr lang="en-US" sz="1133" b="1" dirty="0">
              <a:solidFill>
                <a:srgbClr val="47474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환경변수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 </a:t>
            </a: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표기하여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33" b="1" dirty="0" err="1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</a:t>
            </a:r>
            <a:r>
              <a:rPr lang="en-US" sz="1133" b="1" dirty="0">
                <a:solidFill>
                  <a:srgbClr val="4747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지원.</a:t>
            </a:r>
            <a:endParaRPr lang="en-US" sz="1133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145" y="1375587"/>
            <a:ext cx="5887779" cy="1162936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noFill/>
          <a:ln/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285" y="1452009"/>
            <a:ext cx="93035" cy="93035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410" y="1452009"/>
            <a:ext cx="93035" cy="93035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212" y="1452009"/>
            <a:ext cx="93035" cy="9303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98500" y="1739900"/>
            <a:ext cx="544830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94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EXCEPTION: </a:t>
            </a:r>
            <a:r>
              <a:rPr lang="en-US" sz="1050" b="1" dirty="0">
                <a:solidFill>
                  <a:srgbClr val="2C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java.lang.llegalArgumentException: </a:t>
            </a:r>
            <a:r>
              <a:rPr lang="en-US" sz="1050" b="1" dirty="0">
                <a:solidFill>
                  <a:srgbClr val="364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required configuration for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3D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'wallet.crypto.aes-key'. Ensure Spring property '</a:t>
            </a:r>
            <a:r>
              <a:rPr lang="en-US" sz="1050" b="1" dirty="0" err="1">
                <a:solidFill>
                  <a:srgbClr val="3D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wallet.crypto.aes</a:t>
            </a:r>
            <a:r>
              <a:rPr lang="en-US" sz="1050" b="1" dirty="0">
                <a:solidFill>
                  <a:srgbClr val="3D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-key’ 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3D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OS environment variable 'IWON_WALLET_AES_KEY_BASE64' is set</a:t>
            </a:r>
          </a:p>
        </p:txBody>
      </p:sp>
      <p:sp>
        <p:nvSpPr>
          <p:cNvPr id="31" name="Text 17"/>
          <p:cNvSpPr/>
          <p:nvPr/>
        </p:nvSpPr>
        <p:spPr>
          <a:xfrm>
            <a:off x="348881" y="897122"/>
            <a:ext cx="1830794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5" b="1" dirty="0">
                <a:solidFill>
                  <a:srgbClr val="444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AesGcmWalletAddressCrypto.java</a:t>
            </a:r>
            <a:endParaRPr lang="en-US" sz="965" dirty="0"/>
          </a:p>
        </p:txBody>
      </p:sp>
      <p:sp>
        <p:nvSpPr>
          <p:cNvPr id="32" name="Text 18"/>
          <p:cNvSpPr/>
          <p:nvPr/>
        </p:nvSpPr>
        <p:spPr>
          <a:xfrm>
            <a:off x="355526" y="3020311"/>
            <a:ext cx="1378910" cy="1628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1" b="1" dirty="0">
                <a:solidFill>
                  <a:srgbClr val="4848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IntegrationProperties.java</a:t>
            </a:r>
            <a:endParaRPr lang="en-US" sz="981" dirty="0"/>
          </a:p>
        </p:txBody>
      </p:sp>
      <p:sp>
        <p:nvSpPr>
          <p:cNvPr id="33" name="Text 19"/>
          <p:cNvSpPr/>
          <p:nvPr/>
        </p:nvSpPr>
        <p:spPr>
          <a:xfrm>
            <a:off x="289073" y="235910"/>
            <a:ext cx="4552064" cy="335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22" b="1" dirty="0">
                <a:solidFill>
                  <a:srgbClr val="5B5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개발 지침: Java 암복호화 로직 표준화</a:t>
            </a:r>
            <a:endParaRPr lang="en-US" sz="2122" dirty="0"/>
          </a:p>
        </p:txBody>
      </p:sp>
    </p:spTree>
    <p:extLst>
      <p:ext uri="{BB962C8B-B14F-4D97-AF65-F5344CB8AC3E}">
        <p14:creationId xmlns:p14="http://schemas.microsoft.com/office/powerpoint/2010/main" val="170246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7" y="4053663"/>
            <a:ext cx="8572500" cy="79744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22" y="4093535"/>
            <a:ext cx="1259338" cy="27578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82108" y="4140052"/>
            <a:ext cx="963576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4" b="1" dirty="0">
                <a:solidFill>
                  <a:srgbClr val="45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Pro-Tip Callout</a:t>
            </a:r>
            <a:endParaRPr lang="en-US" sz="1164" dirty="0"/>
          </a:p>
        </p:txBody>
      </p:sp>
      <p:sp>
        <p:nvSpPr>
          <p:cNvPr id="9" name="Text 3"/>
          <p:cNvSpPr/>
          <p:nvPr/>
        </p:nvSpPr>
        <p:spPr>
          <a:xfrm>
            <a:off x="515015" y="4449061"/>
            <a:ext cx="8147198" cy="2425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4C4C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CLl 팁: AES 32바이트 랜덤값이 필요한 경우 Azure CLl의 opensslrand -base64 32 등을 활용하여 안전하게 생성 후 등록하세요.</a:t>
            </a:r>
            <a:endParaRPr lang="en-US" sz="1180" dirty="0"/>
          </a:p>
        </p:txBody>
      </p:sp>
      <p:sp>
        <p:nvSpPr>
          <p:cNvPr id="10" name="Shape 4"/>
          <p:cNvSpPr/>
          <p:nvPr/>
        </p:nvSpPr>
        <p:spPr>
          <a:xfrm>
            <a:off x="6492506" y="3581843"/>
            <a:ext cx="2325872" cy="365494"/>
          </a:xfrm>
          <a:prstGeom prst="rect">
            <a:avLst/>
          </a:prstGeom>
          <a:solidFill>
            <a:srgbClr val="EFF1EE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738" y="3658265"/>
            <a:ext cx="206006" cy="2060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08799" y="3654942"/>
            <a:ext cx="1229390" cy="2060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404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Enabled 상태 확인.</a:t>
            </a:r>
            <a:endParaRPr lang="en-US" sz="1130" dirty="0"/>
          </a:p>
        </p:txBody>
      </p:sp>
      <p:sp>
        <p:nvSpPr>
          <p:cNvPr id="13" name="Shape 6"/>
          <p:cNvSpPr/>
          <p:nvPr/>
        </p:nvSpPr>
        <p:spPr>
          <a:xfrm>
            <a:off x="4887654" y="3103378"/>
            <a:ext cx="3927401" cy="358849"/>
          </a:xfrm>
          <a:prstGeom prst="rect">
            <a:avLst/>
          </a:prstGeom>
          <a:solidFill>
            <a:srgbClr val="EFF0EE"/>
          </a:solidFill>
          <a:ln/>
        </p:spPr>
      </p:sp>
      <p:sp>
        <p:nvSpPr>
          <p:cNvPr id="14" name="Text 7"/>
          <p:cNvSpPr/>
          <p:nvPr/>
        </p:nvSpPr>
        <p:spPr>
          <a:xfrm>
            <a:off x="5013916" y="3169831"/>
            <a:ext cx="3522035" cy="2226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7" b="1" dirty="0">
                <a:solidFill>
                  <a:srgbClr val="4C4C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iwon-wallet-aes-key-base64 등록 및 만들기(Create)</a:t>
            </a:r>
            <a:endParaRPr lang="en-US" sz="1167" dirty="0"/>
          </a:p>
        </p:txBody>
      </p:sp>
      <p:sp>
        <p:nvSpPr>
          <p:cNvPr id="15" name="Shape 8"/>
          <p:cNvSpPr/>
          <p:nvPr/>
        </p:nvSpPr>
        <p:spPr>
          <a:xfrm>
            <a:off x="3306061" y="2618267"/>
            <a:ext cx="2854177" cy="362172"/>
          </a:xfrm>
          <a:prstGeom prst="rect">
            <a:avLst/>
          </a:prstGeom>
          <a:solidFill>
            <a:srgbClr val="EFF0EE"/>
          </a:solidFill>
          <a:ln/>
        </p:spPr>
      </p:sp>
      <p:sp>
        <p:nvSpPr>
          <p:cNvPr id="16" name="Text 9"/>
          <p:cNvSpPr/>
          <p:nvPr/>
        </p:nvSpPr>
        <p:spPr>
          <a:xfrm>
            <a:off x="3578520" y="2684721"/>
            <a:ext cx="2465424" cy="2226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7" b="1" dirty="0">
                <a:solidFill>
                  <a:srgbClr val="424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생성/가져오기(Generate/Import) 클릭</a:t>
            </a:r>
            <a:endParaRPr lang="en-US" sz="1117" dirty="0"/>
          </a:p>
        </p:txBody>
      </p:sp>
      <p:sp>
        <p:nvSpPr>
          <p:cNvPr id="17" name="Text 10"/>
          <p:cNvSpPr/>
          <p:nvPr/>
        </p:nvSpPr>
        <p:spPr>
          <a:xfrm>
            <a:off x="3442291" y="2717948"/>
            <a:ext cx="103003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9" b="1" dirty="0">
                <a:solidFill>
                  <a:srgbClr val="3F3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989" dirty="0"/>
          </a:p>
        </p:txBody>
      </p:sp>
      <p:sp>
        <p:nvSpPr>
          <p:cNvPr id="18" name="Shape 11"/>
          <p:cNvSpPr/>
          <p:nvPr/>
        </p:nvSpPr>
        <p:spPr>
          <a:xfrm>
            <a:off x="1883956" y="2133157"/>
            <a:ext cx="2412262" cy="365494"/>
          </a:xfrm>
          <a:prstGeom prst="rect">
            <a:avLst/>
          </a:prstGeom>
          <a:solidFill>
            <a:srgbClr val="EFF0EE"/>
          </a:solidFill>
          <a:ln/>
        </p:spPr>
      </p:sp>
      <p:sp>
        <p:nvSpPr>
          <p:cNvPr id="19" name="Text 12"/>
          <p:cNvSpPr/>
          <p:nvPr/>
        </p:nvSpPr>
        <p:spPr>
          <a:xfrm>
            <a:off x="2030154" y="2202933"/>
            <a:ext cx="2139802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5" b="1" dirty="0">
                <a:solidFill>
                  <a:srgbClr val="4343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메뉴에서 비밀(Secrets) 클릭</a:t>
            </a:r>
            <a:endParaRPr lang="en-US" sz="1185" dirty="0"/>
          </a:p>
        </p:txBody>
      </p:sp>
      <p:sp>
        <p:nvSpPr>
          <p:cNvPr id="20" name="Shape 13"/>
          <p:cNvSpPr/>
          <p:nvPr/>
        </p:nvSpPr>
        <p:spPr>
          <a:xfrm>
            <a:off x="325622" y="1654692"/>
            <a:ext cx="2468747" cy="358849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21" name="Text 14"/>
          <p:cNvSpPr/>
          <p:nvPr/>
        </p:nvSpPr>
        <p:spPr>
          <a:xfrm>
            <a:off x="465174" y="1717823"/>
            <a:ext cx="2219547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6" b="1" dirty="0">
                <a:solidFill>
                  <a:srgbClr val="3E3E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 접속 및 키 자격 증명 모음 선택</a:t>
            </a:r>
            <a:endParaRPr lang="en-US" sz="1206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33" y="1026706"/>
            <a:ext cx="8658890" cy="4219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552293" y="1126387"/>
            <a:ext cx="1206131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6" b="1" dirty="0">
                <a:solidFill>
                  <a:srgbClr val="4040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iwonsvckvkrc001</a:t>
            </a:r>
            <a:endParaRPr lang="en-US" sz="1266" dirty="0"/>
          </a:p>
        </p:txBody>
      </p:sp>
      <p:sp>
        <p:nvSpPr>
          <p:cNvPr id="25" name="Text 16"/>
          <p:cNvSpPr/>
          <p:nvPr/>
        </p:nvSpPr>
        <p:spPr>
          <a:xfrm>
            <a:off x="2515619" y="1126387"/>
            <a:ext cx="990157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91" b="1" dirty="0">
                <a:solidFill>
                  <a:srgbClr val="4040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Vault 이름:</a:t>
            </a:r>
            <a:endParaRPr lang="en-US" sz="1091" dirty="0"/>
          </a:p>
        </p:txBody>
      </p:sp>
      <p:sp>
        <p:nvSpPr>
          <p:cNvPr id="26" name="Text 17"/>
          <p:cNvSpPr/>
          <p:nvPr/>
        </p:nvSpPr>
        <p:spPr>
          <a:xfrm>
            <a:off x="368817" y="1119741"/>
            <a:ext cx="3073474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424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그룹: </a:t>
            </a:r>
            <a:r>
              <a:rPr lang="en-US" sz="1190" b="1" dirty="0" err="1">
                <a:solidFill>
                  <a:srgbClr val="424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iwon</a:t>
            </a:r>
            <a:r>
              <a:rPr lang="en-US" sz="1190" b="1" dirty="0">
                <a:solidFill>
                  <a:srgbClr val="424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-svc-</a:t>
            </a:r>
            <a:r>
              <a:rPr lang="en-US" sz="1190" b="1" dirty="0" err="1">
                <a:solidFill>
                  <a:srgbClr val="424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rg</a:t>
            </a:r>
            <a:endParaRPr lang="en-US" sz="119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490" y="827346"/>
            <a:ext cx="1083193" cy="24587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42235" y="867218"/>
            <a:ext cx="787474" cy="156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46" b="1" dirty="0">
                <a:solidFill>
                  <a:srgbClr val="4D4E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Box</a:t>
            </a:r>
            <a:endParaRPr lang="en-US" sz="1146" dirty="0"/>
          </a:p>
        </p:txBody>
      </p:sp>
      <p:sp>
        <p:nvSpPr>
          <p:cNvPr id="29" name="Text 19"/>
          <p:cNvSpPr/>
          <p:nvPr/>
        </p:nvSpPr>
        <p:spPr>
          <a:xfrm>
            <a:off x="282427" y="235910"/>
            <a:ext cx="4871041" cy="3688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81" b="1" dirty="0">
                <a:solidFill>
                  <a:srgbClr val="5B5E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인프라 설정: Key VaultSecret생성</a:t>
            </a:r>
            <a:endParaRPr lang="en-US" sz="238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369"/>
            <a:ext cx="9144000" cy="9968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7" name="Text 3"/>
          <p:cNvSpPr/>
          <p:nvPr/>
        </p:nvSpPr>
        <p:spPr>
          <a:xfrm>
            <a:off x="3453322" y="4044271"/>
            <a:ext cx="372140" cy="239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91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</a:t>
            </a:r>
            <a:endParaRPr lang="en-US" sz="1591" dirty="0"/>
          </a:p>
        </p:txBody>
      </p:sp>
      <p:sp>
        <p:nvSpPr>
          <p:cNvPr id="8" name="Text 4"/>
          <p:cNvSpPr/>
          <p:nvPr/>
        </p:nvSpPr>
        <p:spPr>
          <a:xfrm>
            <a:off x="3247316" y="3322674"/>
            <a:ext cx="777506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7" b="1" dirty="0">
                <a:solidFill>
                  <a:srgbClr val="2D2D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범위</a:t>
            </a:r>
            <a:endParaRPr lang="en-US" sz="1557" dirty="0"/>
          </a:p>
        </p:txBody>
      </p:sp>
      <p:sp>
        <p:nvSpPr>
          <p:cNvPr id="9" name="Text 5"/>
          <p:cNvSpPr/>
          <p:nvPr/>
        </p:nvSpPr>
        <p:spPr>
          <a:xfrm>
            <a:off x="3247316" y="2641526"/>
            <a:ext cx="780828" cy="2558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40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할당역할</a:t>
            </a:r>
            <a:endParaRPr lang="en-US" sz="1640" dirty="0"/>
          </a:p>
        </p:txBody>
      </p:sp>
      <p:sp>
        <p:nvSpPr>
          <p:cNvPr id="10" name="Text 6"/>
          <p:cNvSpPr/>
          <p:nvPr/>
        </p:nvSpPr>
        <p:spPr>
          <a:xfrm>
            <a:off x="4509932" y="3908041"/>
            <a:ext cx="4093048" cy="5050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46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Vault →액세스 제어(IAM) → </a:t>
            </a:r>
            <a:r>
              <a:rPr lang="en-US" sz="1546" b="1" dirty="0" err="1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r>
              <a:rPr lang="en-US" sz="1546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46" b="1" dirty="0" err="1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할당</a:t>
            </a:r>
            <a:r>
              <a:rPr lang="en-US" sz="1546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46" b="1" dirty="0" err="1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</a:t>
            </a:r>
            <a:endParaRPr lang="en-US" sz="1546" b="1" dirty="0">
              <a:solidFill>
                <a:srgbClr val="3E3E3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546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sz="1546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SPN 검색 후 할당</a:t>
            </a:r>
            <a:endParaRPr lang="en-US" sz="1546" dirty="0"/>
          </a:p>
        </p:txBody>
      </p:sp>
      <p:sp>
        <p:nvSpPr>
          <p:cNvPr id="11" name="Text 7"/>
          <p:cNvSpPr/>
          <p:nvPr/>
        </p:nvSpPr>
        <p:spPr>
          <a:xfrm>
            <a:off x="4523223" y="3316029"/>
            <a:ext cx="3448936" cy="2724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3" b="1" dirty="0">
                <a:solidFill>
                  <a:srgbClr val="3F3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 </a:t>
            </a:r>
            <a:r>
              <a:rPr lang="ko-KR" altLang="en-US" sz="1523" b="1" dirty="0">
                <a:solidFill>
                  <a:srgbClr val="3F3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r>
              <a:rPr lang="en-US" sz="1523" b="1" dirty="0">
                <a:solidFill>
                  <a:srgbClr val="3F3E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조회 및 메타데이터 읽기 (최소 권한)</a:t>
            </a:r>
            <a:endParaRPr lang="en-US" sz="1523" dirty="0"/>
          </a:p>
        </p:txBody>
      </p:sp>
      <p:sp>
        <p:nvSpPr>
          <p:cNvPr id="12" name="Text 8"/>
          <p:cNvSpPr/>
          <p:nvPr/>
        </p:nvSpPr>
        <p:spPr>
          <a:xfrm>
            <a:off x="4516578" y="2521910"/>
            <a:ext cx="4119053" cy="5017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Vault 비밀 사용자 (</a:t>
            </a:r>
            <a:r>
              <a:rPr lang="en-US" sz="1585" b="1" dirty="0" err="1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KeyVault</a:t>
            </a:r>
            <a:r>
              <a:rPr lang="en-US" sz="1585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Secrets User)</a:t>
            </a:r>
            <a:endParaRPr lang="en-US" sz="1585" dirty="0"/>
          </a:p>
        </p:txBody>
      </p:sp>
      <p:sp>
        <p:nvSpPr>
          <p:cNvPr id="13" name="Text 9"/>
          <p:cNvSpPr/>
          <p:nvPr/>
        </p:nvSpPr>
        <p:spPr>
          <a:xfrm>
            <a:off x="4509932" y="1963701"/>
            <a:ext cx="3784526" cy="2492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3B3B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fef01f57-4763-428d-b19d-9f31b0490213</a:t>
            </a:r>
            <a:endParaRPr lang="en-US" sz="1630" dirty="0"/>
          </a:p>
        </p:txBody>
      </p:sp>
      <p:sp>
        <p:nvSpPr>
          <p:cNvPr id="14" name="Text 10"/>
          <p:cNvSpPr/>
          <p:nvPr/>
        </p:nvSpPr>
        <p:spPr>
          <a:xfrm>
            <a:off x="4516578" y="1166259"/>
            <a:ext cx="3684846" cy="4984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6" b="1" dirty="0">
                <a:solidFill>
                  <a:srgbClr val="383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iwon-terraform-sp (Service Connection:</a:t>
            </a:r>
            <a:endParaRPr lang="en-US" sz="1656" dirty="0"/>
          </a:p>
          <a:p>
            <a:pPr marL="0" indent="0" algn="l">
              <a:buNone/>
            </a:pPr>
            <a:r>
              <a:rPr lang="en-US" sz="1656" b="1" dirty="0">
                <a:solidFill>
                  <a:srgbClr val="383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iwon-smart-ops-sc)</a:t>
            </a:r>
            <a:endParaRPr lang="en-US" sz="1656" dirty="0"/>
          </a:p>
        </p:txBody>
      </p:sp>
      <p:sp>
        <p:nvSpPr>
          <p:cNvPr id="15" name="Text 11"/>
          <p:cNvSpPr/>
          <p:nvPr/>
        </p:nvSpPr>
        <p:spPr>
          <a:xfrm>
            <a:off x="3320415" y="1980314"/>
            <a:ext cx="631308" cy="2558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9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ID</a:t>
            </a:r>
            <a:endParaRPr lang="en-US" sz="1669" dirty="0"/>
          </a:p>
        </p:txBody>
      </p:sp>
      <p:sp>
        <p:nvSpPr>
          <p:cNvPr id="16" name="Text 12"/>
          <p:cNvSpPr/>
          <p:nvPr/>
        </p:nvSpPr>
        <p:spPr>
          <a:xfrm>
            <a:off x="3234025" y="1285875"/>
            <a:ext cx="817378" cy="2458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3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대상SPN</a:t>
            </a:r>
            <a:endParaRPr lang="en-US" sz="1653" dirty="0"/>
          </a:p>
        </p:txBody>
      </p:sp>
      <p:sp>
        <p:nvSpPr>
          <p:cNvPr id="17" name="Shape 13"/>
          <p:cNvSpPr/>
          <p:nvPr/>
        </p:nvSpPr>
        <p:spPr>
          <a:xfrm>
            <a:off x="2737884" y="1069901"/>
            <a:ext cx="19936" cy="3422355"/>
          </a:xfrm>
          <a:prstGeom prst="rect">
            <a:avLst/>
          </a:prstGeom>
          <a:solidFill>
            <a:srgbClr val="373737"/>
          </a:solidFill>
          <a:ln/>
        </p:spPr>
      </p:sp>
      <p:sp>
        <p:nvSpPr>
          <p:cNvPr id="18" name="Shape 14"/>
          <p:cNvSpPr/>
          <p:nvPr/>
        </p:nvSpPr>
        <p:spPr>
          <a:xfrm>
            <a:off x="372140" y="1069901"/>
            <a:ext cx="2083317" cy="3419032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7" y="1202808"/>
            <a:ext cx="471820" cy="4319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369" y="2003573"/>
            <a:ext cx="1827471" cy="22494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iwonsvckvkrc001은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Policy 방식이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아닙니다.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Policies 메뉴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r>
              <a:rPr lang="en-US" sz="1449" b="1" dirty="0" err="1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</a:t>
            </a: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49" b="1" dirty="0" err="1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액세스</a:t>
            </a: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제어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(IAM)에서역할을 부여</a:t>
            </a:r>
            <a:endParaRPr lang="en-US" sz="1449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49" b="1" dirty="0">
                <a:solidFill>
                  <a:srgbClr val="32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합니다.</a:t>
            </a:r>
            <a:endParaRPr lang="en-US" sz="1449" dirty="0"/>
          </a:p>
        </p:txBody>
      </p:sp>
      <p:sp>
        <p:nvSpPr>
          <p:cNvPr id="21" name="Text 16"/>
          <p:cNvSpPr/>
          <p:nvPr/>
        </p:nvSpPr>
        <p:spPr>
          <a:xfrm>
            <a:off x="511692" y="1780953"/>
            <a:ext cx="402044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57" b="1" dirty="0">
                <a:solidFill>
                  <a:srgbClr val="2B2A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중요:</a:t>
            </a:r>
            <a:endParaRPr lang="en-US" sz="1457" dirty="0"/>
          </a:p>
        </p:txBody>
      </p:sp>
      <p:sp>
        <p:nvSpPr>
          <p:cNvPr id="22" name="Text 17"/>
          <p:cNvSpPr/>
          <p:nvPr/>
        </p:nvSpPr>
        <p:spPr>
          <a:xfrm>
            <a:off x="358849" y="289073"/>
            <a:ext cx="4671680" cy="3953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40" b="1" dirty="0">
                <a:solidFill>
                  <a:srgbClr val="5356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4.권한 부여:IAM기반 RBAC 설정</a:t>
            </a:r>
            <a:endParaRPr lang="en-US" sz="264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71E3761-3FFF-A02D-4DFD-EE9511881E92}"/>
              </a:ext>
            </a:extLst>
          </p:cNvPr>
          <p:cNvGrpSpPr/>
          <p:nvPr/>
        </p:nvGrpSpPr>
        <p:grpSpPr>
          <a:xfrm>
            <a:off x="3086100" y="1069900"/>
            <a:ext cx="5838602" cy="3455184"/>
            <a:chOff x="3086100" y="1069900"/>
            <a:chExt cx="5720050" cy="3455184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9738FBC-90BB-75F9-41D4-0FF39053D83D}"/>
                </a:ext>
              </a:extLst>
            </p:cNvPr>
            <p:cNvSpPr/>
            <p:nvPr/>
          </p:nvSpPr>
          <p:spPr>
            <a:xfrm>
              <a:off x="3086100" y="1069901"/>
              <a:ext cx="1234440" cy="3455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66A6BFE-0ECD-A663-9761-09ADC626B815}"/>
                </a:ext>
              </a:extLst>
            </p:cNvPr>
            <p:cNvSpPr/>
            <p:nvPr/>
          </p:nvSpPr>
          <p:spPr>
            <a:xfrm>
              <a:off x="4320540" y="1069900"/>
              <a:ext cx="4485610" cy="3455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F32CE5E-5ABD-6F5F-6A0C-DB168BACF0B4}"/>
                </a:ext>
              </a:extLst>
            </p:cNvPr>
            <p:cNvCxnSpPr/>
            <p:nvPr/>
          </p:nvCxnSpPr>
          <p:spPr>
            <a:xfrm>
              <a:off x="3086100" y="1722120"/>
              <a:ext cx="5720050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A12043-EA59-92D8-0449-0DA5CDDD80A5}"/>
                </a:ext>
              </a:extLst>
            </p:cNvPr>
            <p:cNvCxnSpPr/>
            <p:nvPr/>
          </p:nvCxnSpPr>
          <p:spPr>
            <a:xfrm>
              <a:off x="3086100" y="2407920"/>
              <a:ext cx="5720050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7F4C70E-A3AE-CCC8-13B5-9CDDC73D862C}"/>
                </a:ext>
              </a:extLst>
            </p:cNvPr>
            <p:cNvCxnSpPr/>
            <p:nvPr/>
          </p:nvCxnSpPr>
          <p:spPr>
            <a:xfrm>
              <a:off x="3086100" y="3131820"/>
              <a:ext cx="5720050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33B6157-CF90-F31F-5879-C33F35DB3610}"/>
                </a:ext>
              </a:extLst>
            </p:cNvPr>
            <p:cNvCxnSpPr/>
            <p:nvPr/>
          </p:nvCxnSpPr>
          <p:spPr>
            <a:xfrm>
              <a:off x="3086100" y="3877561"/>
              <a:ext cx="5720050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26" y="4336090"/>
            <a:ext cx="7788349" cy="50836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86834" y="4462352"/>
            <a:ext cx="7200235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1" b="1" dirty="0">
                <a:solidFill>
                  <a:srgbClr val="4141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런타임매핑: IWON_WALLET_AES_KEY_BASE64=$(iwon-wallet-aes-key-base64)</a:t>
            </a:r>
            <a:endParaRPr lang="en-US" sz="1321" dirty="0"/>
          </a:p>
        </p:txBody>
      </p:sp>
      <p:sp>
        <p:nvSpPr>
          <p:cNvPr id="16" name="Text 7"/>
          <p:cNvSpPr/>
          <p:nvPr/>
        </p:nvSpPr>
        <p:spPr>
          <a:xfrm>
            <a:off x="5053788" y="2561782"/>
            <a:ext cx="3422355" cy="6313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Serviceconnection (iwon-smart-ops-sc)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및Key Yault (iwonsvckvkrc001) 선택후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Authorize</a:t>
            </a:r>
            <a:endParaRPr lang="en-US" sz="134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517" y="2571750"/>
            <a:ext cx="325622" cy="458529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58" y="900445"/>
            <a:ext cx="3508744" cy="3262866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3247" y="1172904"/>
            <a:ext cx="402044" cy="2651494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3279" y="2691366"/>
            <a:ext cx="395398" cy="481788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4714875" y="2634881"/>
            <a:ext cx="142875" cy="202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D5D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5" dirty="0"/>
          </a:p>
        </p:txBody>
      </p:sp>
      <p:sp>
        <p:nvSpPr>
          <p:cNvPr id="22" name="Text 9"/>
          <p:cNvSpPr/>
          <p:nvPr/>
        </p:nvSpPr>
        <p:spPr>
          <a:xfrm>
            <a:off x="5057110" y="3482163"/>
            <a:ext cx="3468872" cy="239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1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Add에서iwon-wallet-aes-key-base64선택</a:t>
            </a:r>
            <a:endParaRPr lang="en-US" sz="1321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517" y="3389128"/>
            <a:ext cx="325622" cy="458529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924" y="3518712"/>
            <a:ext cx="385430" cy="338913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4708230" y="3455581"/>
            <a:ext cx="152843" cy="202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82" b="1" dirty="0">
                <a:solidFill>
                  <a:srgbClr val="CCD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82" dirty="0"/>
          </a:p>
        </p:txBody>
      </p:sp>
      <p:sp>
        <p:nvSpPr>
          <p:cNvPr id="26" name="Text 11"/>
          <p:cNvSpPr/>
          <p:nvPr/>
        </p:nvSpPr>
        <p:spPr>
          <a:xfrm>
            <a:off x="5053788" y="1814180"/>
            <a:ext cx="3166509" cy="4219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8" b="1" dirty="0">
                <a:solidFill>
                  <a:srgbClr val="3B3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토글ON: Linksecretsfrom an</a:t>
            </a:r>
            <a:endParaRPr lang="en-US" sz="1428" dirty="0"/>
          </a:p>
          <a:p>
            <a:pPr marL="0" indent="0" algn="l">
              <a:buNone/>
            </a:pPr>
            <a:r>
              <a:rPr lang="en-US" sz="1428" b="1" dirty="0">
                <a:solidFill>
                  <a:srgbClr val="3B3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Azurekeyvault as variables</a:t>
            </a:r>
            <a:endParaRPr lang="en-US" sz="1428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8517" y="1800890"/>
            <a:ext cx="325622" cy="458529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3279" y="1920506"/>
            <a:ext cx="392076" cy="475142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4714875" y="1864020"/>
            <a:ext cx="146198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D7D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30" name="Text 13"/>
          <p:cNvSpPr/>
          <p:nvPr/>
        </p:nvSpPr>
        <p:spPr>
          <a:xfrm>
            <a:off x="5053788" y="1146323"/>
            <a:ext cx="3232962" cy="2359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8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Variable Group: IWON-KV-SECRETS 선택</a:t>
            </a:r>
            <a:endParaRPr lang="en-US" sz="1308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5195" y="1076547"/>
            <a:ext cx="328945" cy="458529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9924" y="1189517"/>
            <a:ext cx="385430" cy="478465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4728166" y="1139677"/>
            <a:ext cx="119616" cy="2060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14" b="1" dirty="0">
                <a:solidFill>
                  <a:srgbClr val="BBBE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14" dirty="0"/>
          </a:p>
        </p:txBody>
      </p:sp>
      <p:sp>
        <p:nvSpPr>
          <p:cNvPr id="34" name="Text 15"/>
          <p:cNvSpPr/>
          <p:nvPr/>
        </p:nvSpPr>
        <p:spPr>
          <a:xfrm>
            <a:off x="976866" y="3993855"/>
            <a:ext cx="441916" cy="863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81" b="1" dirty="0">
                <a:solidFill>
                  <a:srgbClr val="83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variable</a:t>
            </a:r>
            <a:endParaRPr lang="en-US" sz="581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959" y="3993855"/>
            <a:ext cx="86390" cy="86390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3239608" y="3767913"/>
            <a:ext cx="275782" cy="897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78" dirty="0">
                <a:solidFill>
                  <a:srgbClr val="A09F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578" dirty="0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03378" y="3771235"/>
            <a:ext cx="86390" cy="86390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893799" y="3764590"/>
            <a:ext cx="956930" cy="103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9695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iwon-wallet-aes-key-base64</a:t>
            </a:r>
            <a:endParaRPr lang="en-US" sz="560" dirty="0"/>
          </a:p>
        </p:txBody>
      </p:sp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474" y="3698137"/>
            <a:ext cx="3332642" cy="29904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3100055" y="3551939"/>
            <a:ext cx="199360" cy="79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2" b="1" dirty="0">
                <a:solidFill>
                  <a:srgbClr val="98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2" dirty="0"/>
          </a:p>
        </p:txBody>
      </p:sp>
      <p:sp>
        <p:nvSpPr>
          <p:cNvPr id="41" name="Text 19"/>
          <p:cNvSpPr/>
          <p:nvPr/>
        </p:nvSpPr>
        <p:spPr>
          <a:xfrm>
            <a:off x="887154" y="3551939"/>
            <a:ext cx="255846" cy="79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28" dirty="0">
                <a:solidFill>
                  <a:srgbClr val="9D9C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Varlable</a:t>
            </a:r>
            <a:endParaRPr lang="en-US" sz="528" dirty="0"/>
          </a:p>
        </p:txBody>
      </p:sp>
      <p:sp>
        <p:nvSpPr>
          <p:cNvPr id="42" name="Text 20"/>
          <p:cNvSpPr/>
          <p:nvPr/>
        </p:nvSpPr>
        <p:spPr>
          <a:xfrm>
            <a:off x="794119" y="3335965"/>
            <a:ext cx="388753" cy="996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A9A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759" dirty="0"/>
          </a:p>
        </p:txBody>
      </p:sp>
      <p:sp>
        <p:nvSpPr>
          <p:cNvPr id="43" name="Shape 21"/>
          <p:cNvSpPr/>
          <p:nvPr/>
        </p:nvSpPr>
        <p:spPr>
          <a:xfrm>
            <a:off x="790797" y="3043570"/>
            <a:ext cx="3332642" cy="172779"/>
          </a:xfrm>
          <a:prstGeom prst="rect">
            <a:avLst/>
          </a:prstGeom>
          <a:solidFill>
            <a:srgbClr val="21201E"/>
          </a:solidFill>
          <a:ln/>
        </p:spPr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0564" y="3110023"/>
            <a:ext cx="66453" cy="36549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867218" y="3083442"/>
            <a:ext cx="564855" cy="863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78" b="1" dirty="0">
                <a:solidFill>
                  <a:srgbClr val="9796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iwonsvckvkr001</a:t>
            </a:r>
            <a:endParaRPr lang="en-US" sz="578" dirty="0"/>
          </a:p>
        </p:txBody>
      </p:sp>
      <p:pic>
        <p:nvPicPr>
          <p:cNvPr id="46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88558" y="2910663"/>
            <a:ext cx="83067" cy="83067"/>
          </a:xfrm>
          <a:prstGeom prst="rect">
            <a:avLst/>
          </a:prstGeom>
        </p:spPr>
      </p:pic>
      <p:pic>
        <p:nvPicPr>
          <p:cNvPr id="47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9038" y="2913985"/>
            <a:ext cx="49840" cy="63131"/>
          </a:xfrm>
          <a:prstGeom prst="rect">
            <a:avLst/>
          </a:prstGeom>
        </p:spPr>
      </p:pic>
      <p:pic>
        <p:nvPicPr>
          <p:cNvPr id="48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5715" y="2923953"/>
            <a:ext cx="26581" cy="29904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800765" y="2904017"/>
            <a:ext cx="518337" cy="996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7" b="1" dirty="0">
                <a:solidFill>
                  <a:srgbClr val="9D9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vault name</a:t>
            </a:r>
            <a:endParaRPr lang="en-US" sz="557" dirty="0"/>
          </a:p>
        </p:txBody>
      </p:sp>
      <p:sp>
        <p:nvSpPr>
          <p:cNvPr id="50" name="Shape 24"/>
          <p:cNvSpPr/>
          <p:nvPr/>
        </p:nvSpPr>
        <p:spPr>
          <a:xfrm>
            <a:off x="794119" y="2644849"/>
            <a:ext cx="3319352" cy="172779"/>
          </a:xfrm>
          <a:prstGeom prst="rect">
            <a:avLst/>
          </a:prstGeom>
          <a:solidFill>
            <a:srgbClr val="22211F"/>
          </a:solidFill>
          <a:ln/>
        </p:spPr>
      </p:sp>
      <p:pic>
        <p:nvPicPr>
          <p:cNvPr id="51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80564" y="2711302"/>
            <a:ext cx="66453" cy="36549"/>
          </a:xfrm>
          <a:prstGeom prst="rect">
            <a:avLst/>
          </a:prstGeom>
        </p:spPr>
      </p:pic>
      <p:sp>
        <p:nvSpPr>
          <p:cNvPr id="52" name="Text 25"/>
          <p:cNvSpPr/>
          <p:nvPr/>
        </p:nvSpPr>
        <p:spPr>
          <a:xfrm>
            <a:off x="867218" y="2688044"/>
            <a:ext cx="644599" cy="897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9A99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iwon-smart-ops-sc</a:t>
            </a:r>
            <a:endParaRPr lang="en-US" sz="570" dirty="0"/>
          </a:p>
        </p:txBody>
      </p:sp>
      <p:pic>
        <p:nvPicPr>
          <p:cNvPr id="53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01529" y="2511942"/>
            <a:ext cx="83067" cy="83067"/>
          </a:xfrm>
          <a:prstGeom prst="rect">
            <a:avLst/>
          </a:prstGeom>
        </p:spPr>
      </p:pic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48686" y="2525233"/>
            <a:ext cx="26581" cy="29904"/>
          </a:xfrm>
          <a:prstGeom prst="rect">
            <a:avLst/>
          </a:prstGeom>
        </p:spPr>
      </p:pic>
      <p:sp>
        <p:nvSpPr>
          <p:cNvPr id="55" name="Text 26"/>
          <p:cNvSpPr/>
          <p:nvPr/>
        </p:nvSpPr>
        <p:spPr>
          <a:xfrm>
            <a:off x="794119" y="2508619"/>
            <a:ext cx="634631" cy="930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3" b="1" dirty="0">
                <a:solidFill>
                  <a:srgbClr val="9999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Aeure subscription</a:t>
            </a:r>
            <a:endParaRPr lang="en-US" sz="583" dirty="0"/>
          </a:p>
        </p:txBody>
      </p:sp>
      <p:pic>
        <p:nvPicPr>
          <p:cNvPr id="56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23953" y="2365744"/>
            <a:ext cx="1255971" cy="6645"/>
          </a:xfrm>
          <a:prstGeom prst="rect">
            <a:avLst/>
          </a:prstGeom>
        </p:spPr>
      </p:pic>
      <p:pic>
        <p:nvPicPr>
          <p:cNvPr id="57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54497" y="2315904"/>
            <a:ext cx="79744" cy="83067"/>
          </a:xfrm>
          <a:prstGeom prst="rect">
            <a:avLst/>
          </a:prstGeom>
        </p:spPr>
      </p:pic>
      <p:sp>
        <p:nvSpPr>
          <p:cNvPr id="58" name="Text 27"/>
          <p:cNvSpPr/>
          <p:nvPr/>
        </p:nvSpPr>
        <p:spPr>
          <a:xfrm>
            <a:off x="1079869" y="2309259"/>
            <a:ext cx="1628110" cy="996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7" b="1" dirty="0">
                <a:solidFill>
                  <a:srgbClr val="9E9D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secrets from an Azure key vauit as variables</a:t>
            </a:r>
            <a:endParaRPr lang="en-US" sz="547" dirty="0"/>
          </a:p>
        </p:txBody>
      </p:sp>
      <p:pic>
        <p:nvPicPr>
          <p:cNvPr id="59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7442" y="2302613"/>
            <a:ext cx="232587" cy="112971"/>
          </a:xfrm>
          <a:prstGeom prst="rect">
            <a:avLst/>
          </a:prstGeom>
        </p:spPr>
      </p:pic>
      <p:sp>
        <p:nvSpPr>
          <p:cNvPr id="60" name="Shape 28"/>
          <p:cNvSpPr/>
          <p:nvPr/>
        </p:nvSpPr>
        <p:spPr>
          <a:xfrm>
            <a:off x="794119" y="1907215"/>
            <a:ext cx="3319352" cy="352203"/>
          </a:xfrm>
          <a:prstGeom prst="rect">
            <a:avLst/>
          </a:prstGeom>
          <a:solidFill>
            <a:srgbClr val="21201E"/>
          </a:solidFill>
          <a:ln/>
        </p:spPr>
      </p:sp>
      <p:pic>
        <p:nvPicPr>
          <p:cNvPr id="61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56985" y="2192965"/>
            <a:ext cx="53163" cy="63131"/>
          </a:xfrm>
          <a:prstGeom prst="rect">
            <a:avLst/>
          </a:prstGeom>
        </p:spPr>
      </p:pic>
      <p:sp>
        <p:nvSpPr>
          <p:cNvPr id="62" name="Text 29"/>
          <p:cNvSpPr/>
          <p:nvPr/>
        </p:nvSpPr>
        <p:spPr>
          <a:xfrm>
            <a:off x="870541" y="1930474"/>
            <a:ext cx="2315904" cy="1196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8A8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IWON.RV·SECRETS 된드크끼드토되과 정토 길을 녁트히그 NE니다.</a:t>
            </a:r>
            <a:endParaRPr lang="en-US" sz="636" dirty="0"/>
          </a:p>
        </p:txBody>
      </p:sp>
      <p:sp>
        <p:nvSpPr>
          <p:cNvPr id="63" name="Text 30"/>
          <p:cNvSpPr/>
          <p:nvPr/>
        </p:nvSpPr>
        <p:spPr>
          <a:xfrm>
            <a:off x="804087" y="1784276"/>
            <a:ext cx="385430" cy="996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3" b="1" dirty="0">
                <a:solidFill>
                  <a:srgbClr val="98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583" dirty="0"/>
          </a:p>
        </p:txBody>
      </p:sp>
      <p:sp>
        <p:nvSpPr>
          <p:cNvPr id="64" name="Shape 31"/>
          <p:cNvSpPr/>
          <p:nvPr/>
        </p:nvSpPr>
        <p:spPr>
          <a:xfrm>
            <a:off x="794119" y="1558334"/>
            <a:ext cx="3319352" cy="169456"/>
          </a:xfrm>
          <a:prstGeom prst="rect">
            <a:avLst/>
          </a:prstGeom>
          <a:solidFill>
            <a:srgbClr val="21201E"/>
          </a:solidFill>
          <a:ln/>
        </p:spPr>
      </p:sp>
      <p:sp>
        <p:nvSpPr>
          <p:cNvPr id="65" name="Text 32"/>
          <p:cNvSpPr/>
          <p:nvPr/>
        </p:nvSpPr>
        <p:spPr>
          <a:xfrm>
            <a:off x="867218" y="1594884"/>
            <a:ext cx="657890" cy="897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2" b="1" dirty="0">
                <a:solidFill>
                  <a:srgbClr val="A09F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IWON-RV-SECRETS</a:t>
            </a:r>
            <a:endParaRPr lang="en-US" sz="542" dirty="0"/>
          </a:p>
        </p:txBody>
      </p:sp>
      <p:sp>
        <p:nvSpPr>
          <p:cNvPr id="66" name="Text 33"/>
          <p:cNvSpPr/>
          <p:nvPr/>
        </p:nvSpPr>
        <p:spPr>
          <a:xfrm>
            <a:off x="794119" y="1435395"/>
            <a:ext cx="714375" cy="996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3" dirty="0">
                <a:solidFill>
                  <a:srgbClr val="989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group name</a:t>
            </a:r>
            <a:endParaRPr lang="en-US" sz="583" dirty="0"/>
          </a:p>
        </p:txBody>
      </p:sp>
      <p:pic>
        <p:nvPicPr>
          <p:cNvPr id="67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1148" y="1329070"/>
            <a:ext cx="3495453" cy="23259"/>
          </a:xfrm>
          <a:prstGeom prst="rect">
            <a:avLst/>
          </a:prstGeom>
        </p:spPr>
      </p:pic>
      <p:pic>
        <p:nvPicPr>
          <p:cNvPr id="68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0828" y="1329070"/>
            <a:ext cx="515015" cy="13291"/>
          </a:xfrm>
          <a:prstGeom prst="rect">
            <a:avLst/>
          </a:prstGeom>
        </p:spPr>
      </p:pic>
      <p:pic>
        <p:nvPicPr>
          <p:cNvPr id="69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87849" y="1202808"/>
            <a:ext cx="99680" cy="33227"/>
          </a:xfrm>
          <a:prstGeom prst="rect">
            <a:avLst/>
          </a:prstGeom>
        </p:spPr>
      </p:pic>
      <p:sp>
        <p:nvSpPr>
          <p:cNvPr id="70" name="Text 34"/>
          <p:cNvSpPr/>
          <p:nvPr/>
        </p:nvSpPr>
        <p:spPr>
          <a:xfrm>
            <a:off x="3465549" y="1169581"/>
            <a:ext cx="225942" cy="897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6" b="1" dirty="0">
                <a:solidFill>
                  <a:srgbClr val="A6A6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586" dirty="0"/>
          </a:p>
        </p:txBody>
      </p:sp>
      <p:pic>
        <p:nvPicPr>
          <p:cNvPr id="71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39288" y="1176227"/>
            <a:ext cx="79744" cy="89712"/>
          </a:xfrm>
          <a:prstGeom prst="rect">
            <a:avLst/>
          </a:prstGeom>
        </p:spPr>
      </p:pic>
      <p:sp>
        <p:nvSpPr>
          <p:cNvPr id="72" name="Text 35"/>
          <p:cNvSpPr/>
          <p:nvPr/>
        </p:nvSpPr>
        <p:spPr>
          <a:xfrm>
            <a:off x="2947212" y="1169581"/>
            <a:ext cx="285750" cy="930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97" dirty="0">
                <a:solidFill>
                  <a:srgbClr val="4746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Premied</a:t>
            </a:r>
            <a:endParaRPr lang="en-US" sz="597" dirty="0"/>
          </a:p>
        </p:txBody>
      </p:sp>
      <p:pic>
        <p:nvPicPr>
          <p:cNvPr id="73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824273" y="1172904"/>
            <a:ext cx="66453" cy="83067"/>
          </a:xfrm>
          <a:prstGeom prst="rect">
            <a:avLst/>
          </a:prstGeom>
        </p:spPr>
      </p:pic>
      <p:sp>
        <p:nvSpPr>
          <p:cNvPr id="74" name="Text 36"/>
          <p:cNvSpPr/>
          <p:nvPr/>
        </p:nvSpPr>
        <p:spPr>
          <a:xfrm>
            <a:off x="2468747" y="1169581"/>
            <a:ext cx="235910" cy="897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91" dirty="0">
                <a:solidFill>
                  <a:srgbClr val="9D9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</a:t>
            </a:r>
            <a:endParaRPr lang="en-US" sz="591" dirty="0"/>
          </a:p>
        </p:txBody>
      </p:sp>
      <p:pic>
        <p:nvPicPr>
          <p:cNvPr id="75" name="Image 3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349131" y="1176227"/>
            <a:ext cx="76422" cy="79744"/>
          </a:xfrm>
          <a:prstGeom prst="rect">
            <a:avLst/>
          </a:prstGeom>
        </p:spPr>
      </p:pic>
      <p:pic>
        <p:nvPicPr>
          <p:cNvPr id="76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39483" y="1159613"/>
            <a:ext cx="13291" cy="119616"/>
          </a:xfrm>
          <a:prstGeom prst="rect">
            <a:avLst/>
          </a:prstGeom>
        </p:spPr>
      </p:pic>
      <p:sp>
        <p:nvSpPr>
          <p:cNvPr id="77" name="Text 37"/>
          <p:cNvSpPr/>
          <p:nvPr/>
        </p:nvSpPr>
        <p:spPr>
          <a:xfrm>
            <a:off x="1764340" y="1172904"/>
            <a:ext cx="365494" cy="863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76" dirty="0">
                <a:solidFill>
                  <a:srgbClr val="8D8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Revicomes</a:t>
            </a:r>
            <a:endParaRPr lang="en-US" sz="576" dirty="0"/>
          </a:p>
        </p:txBody>
      </p:sp>
      <p:sp>
        <p:nvSpPr>
          <p:cNvPr id="78" name="Text 38"/>
          <p:cNvSpPr/>
          <p:nvPr/>
        </p:nvSpPr>
        <p:spPr>
          <a:xfrm>
            <a:off x="1392201" y="1172904"/>
            <a:ext cx="275782" cy="963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B99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</a:t>
            </a:r>
            <a:endParaRPr lang="en-US" sz="610" dirty="0"/>
          </a:p>
        </p:txBody>
      </p:sp>
      <p:sp>
        <p:nvSpPr>
          <p:cNvPr id="79" name="Text 39"/>
          <p:cNvSpPr/>
          <p:nvPr/>
        </p:nvSpPr>
        <p:spPr>
          <a:xfrm>
            <a:off x="780828" y="1169581"/>
            <a:ext cx="518337" cy="103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6" b="1" dirty="0">
                <a:solidFill>
                  <a:srgbClr val="A7A6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group</a:t>
            </a:r>
            <a:endParaRPr lang="en-US" sz="586" dirty="0"/>
          </a:p>
        </p:txBody>
      </p:sp>
      <p:sp>
        <p:nvSpPr>
          <p:cNvPr id="80" name="Text 40"/>
          <p:cNvSpPr/>
          <p:nvPr/>
        </p:nvSpPr>
        <p:spPr>
          <a:xfrm>
            <a:off x="780828" y="946962"/>
            <a:ext cx="933672" cy="1329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1" b="1" dirty="0">
                <a:solidFill>
                  <a:srgbClr val="A4A3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IWON-KV-SECRETS</a:t>
            </a:r>
            <a:endParaRPr lang="en-US" sz="801" dirty="0"/>
          </a:p>
        </p:txBody>
      </p:sp>
      <p:sp>
        <p:nvSpPr>
          <p:cNvPr id="81" name="Text 41"/>
          <p:cNvSpPr/>
          <p:nvPr/>
        </p:nvSpPr>
        <p:spPr>
          <a:xfrm>
            <a:off x="295718" y="259169"/>
            <a:ext cx="4518837" cy="3754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60" b="1" dirty="0">
                <a:solidFill>
                  <a:srgbClr val="595F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CI/CD 연동: Variable Group 구성</a:t>
            </a:r>
            <a:endParaRPr lang="en-US" sz="2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6" y="3738009"/>
            <a:ext cx="8280105" cy="100344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84" y="3714750"/>
            <a:ext cx="8253523" cy="96689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91491" y="4206506"/>
            <a:ext cx="1465299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수행해야 합니다.</a:t>
            </a:r>
            <a:endParaRPr lang="en-US" sz="1635" dirty="0"/>
          </a:p>
        </p:txBody>
      </p:sp>
      <p:sp>
        <p:nvSpPr>
          <p:cNvPr id="8" name="Text 3"/>
          <p:cNvSpPr/>
          <p:nvPr/>
        </p:nvSpPr>
        <p:spPr>
          <a:xfrm>
            <a:off x="2847532" y="4206506"/>
            <a:ext cx="800765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8" b="1" dirty="0">
                <a:solidFill>
                  <a:srgbClr val="2B2B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Add를</a:t>
            </a:r>
            <a:endParaRPr lang="en-US" sz="1708" dirty="0"/>
          </a:p>
        </p:txBody>
      </p:sp>
      <p:sp>
        <p:nvSpPr>
          <p:cNvPr id="9" name="Text 4"/>
          <p:cNvSpPr/>
          <p:nvPr/>
        </p:nvSpPr>
        <p:spPr>
          <a:xfrm>
            <a:off x="554887" y="4209828"/>
            <a:ext cx="2259419" cy="2558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3838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않습니다. 반드시 수동으로</a:t>
            </a:r>
            <a:endParaRPr lang="en-US" sz="1625" dirty="0"/>
          </a:p>
        </p:txBody>
      </p:sp>
      <p:sp>
        <p:nvSpPr>
          <p:cNvPr id="10" name="Text 5"/>
          <p:cNvSpPr/>
          <p:nvPr/>
        </p:nvSpPr>
        <p:spPr>
          <a:xfrm>
            <a:off x="990157" y="3910788"/>
            <a:ext cx="76255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96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</a:t>
            </a:r>
            <a:r>
              <a:rPr lang="en-US" sz="1596" b="1" dirty="0" err="1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Vault에</a:t>
            </a:r>
            <a:r>
              <a:rPr lang="en-US" sz="1596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96" b="1" dirty="0" err="1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Secret이</a:t>
            </a:r>
            <a:r>
              <a:rPr lang="en-US" sz="1596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추가/삭제되어도 DevOps Variable Group 목록은 자동 갱신되지</a:t>
            </a:r>
            <a:endParaRPr lang="en-US" sz="1596" dirty="0"/>
          </a:p>
        </p:txBody>
      </p:sp>
      <p:sp>
        <p:nvSpPr>
          <p:cNvPr id="11" name="Text 6"/>
          <p:cNvSpPr/>
          <p:nvPr/>
        </p:nvSpPr>
        <p:spPr>
          <a:xfrm>
            <a:off x="554887" y="3937369"/>
            <a:ext cx="431948" cy="259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5" b="1" dirty="0">
                <a:solidFill>
                  <a:srgbClr val="2A2A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endParaRPr lang="en-US" sz="156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12" y="1242680"/>
            <a:ext cx="8276782" cy="179092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358" y="2808236"/>
            <a:ext cx="66453" cy="6645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55" y="2495904"/>
            <a:ext cx="66453" cy="73099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035" y="2213477"/>
            <a:ext cx="73099" cy="76422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5035" y="1917759"/>
            <a:ext cx="69776" cy="73099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8805" y="1242680"/>
            <a:ext cx="79744" cy="179092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532" y="1921082"/>
            <a:ext cx="69776" cy="69776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4867718" y="2688620"/>
            <a:ext cx="3429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9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파이프라인 앱 환경변수 매핑 갱신</a:t>
            </a:r>
            <a:endParaRPr lang="en-US" sz="1690" dirty="0"/>
          </a:p>
        </p:txBody>
      </p:sp>
      <p:sp>
        <p:nvSpPr>
          <p:cNvPr id="20" name="Text 8"/>
          <p:cNvSpPr/>
          <p:nvPr/>
        </p:nvSpPr>
        <p:spPr>
          <a:xfrm>
            <a:off x="4864395" y="2402870"/>
            <a:ext cx="2644849" cy="259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37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들어가서 신규 Secret+ Add</a:t>
            </a:r>
            <a:endParaRPr lang="en-US" sz="1737" dirty="0"/>
          </a:p>
        </p:txBody>
      </p:sp>
      <p:sp>
        <p:nvSpPr>
          <p:cNvPr id="21" name="Text 9"/>
          <p:cNvSpPr/>
          <p:nvPr/>
        </p:nvSpPr>
        <p:spPr>
          <a:xfrm>
            <a:off x="4864395" y="2110474"/>
            <a:ext cx="30867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36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작업 필수: Variable Group에</a:t>
            </a:r>
            <a:endParaRPr lang="en-US" sz="1630" dirty="0"/>
          </a:p>
        </p:txBody>
      </p:sp>
      <p:sp>
        <p:nvSpPr>
          <p:cNvPr id="22" name="Text 10"/>
          <p:cNvSpPr/>
          <p:nvPr/>
        </p:nvSpPr>
        <p:spPr>
          <a:xfrm>
            <a:off x="754247" y="2379611"/>
            <a:ext cx="3605102" cy="2890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5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파이프라인에 Variable Group 최초 연결</a:t>
            </a:r>
            <a:endParaRPr lang="en-US" sz="1635" dirty="0"/>
          </a:p>
        </p:txBody>
      </p:sp>
      <p:sp>
        <p:nvSpPr>
          <p:cNvPr id="23" name="Text 11"/>
          <p:cNvSpPr/>
          <p:nvPr/>
        </p:nvSpPr>
        <p:spPr>
          <a:xfrm>
            <a:off x="4874363" y="1801465"/>
            <a:ext cx="2744529" cy="29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5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Vault에 신규 Secret 등록</a:t>
            </a:r>
            <a:endParaRPr lang="en-US" sz="1635" dirty="0"/>
          </a:p>
        </p:txBody>
      </p:sp>
      <p:sp>
        <p:nvSpPr>
          <p:cNvPr id="24" name="Text 12"/>
          <p:cNvSpPr/>
          <p:nvPr/>
        </p:nvSpPr>
        <p:spPr>
          <a:xfrm>
            <a:off x="774183" y="2090538"/>
            <a:ext cx="30635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8" b="1" dirty="0">
                <a:solidFill>
                  <a:srgbClr val="36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(iwon-terraform-sp에 권한 할당)</a:t>
            </a:r>
            <a:endParaRPr lang="en-US" sz="1588" dirty="0"/>
          </a:p>
        </p:txBody>
      </p:sp>
      <p:sp>
        <p:nvSpPr>
          <p:cNvPr id="25" name="Text 13"/>
          <p:cNvSpPr/>
          <p:nvPr/>
        </p:nvSpPr>
        <p:spPr>
          <a:xfrm>
            <a:off x="767538" y="1801465"/>
            <a:ext cx="1917183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2E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IAMRBAC 역할 부여</a:t>
            </a:r>
            <a:endParaRPr lang="en-US" sz="1740" dirty="0"/>
          </a:p>
        </p:txBody>
      </p:sp>
      <p:sp>
        <p:nvSpPr>
          <p:cNvPr id="26" name="Text 14"/>
          <p:cNvSpPr/>
          <p:nvPr/>
        </p:nvSpPr>
        <p:spPr>
          <a:xfrm>
            <a:off x="4661712" y="1315779"/>
            <a:ext cx="3983886" cy="3123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추가 시 반복 (Recurring Actions)</a:t>
            </a:r>
            <a:endParaRPr lang="en-US" sz="1688" dirty="0"/>
          </a:p>
        </p:txBody>
      </p:sp>
      <p:sp>
        <p:nvSpPr>
          <p:cNvPr id="27" name="Text 15"/>
          <p:cNvSpPr/>
          <p:nvPr/>
        </p:nvSpPr>
        <p:spPr>
          <a:xfrm>
            <a:off x="554887" y="1329070"/>
            <a:ext cx="3973918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7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1회 설정 (One-Time Setup)</a:t>
            </a:r>
            <a:endParaRPr lang="en-US" sz="1667" dirty="0"/>
          </a:p>
        </p:txBody>
      </p:sp>
      <p:sp>
        <p:nvSpPr>
          <p:cNvPr id="28" name="Text 16"/>
          <p:cNvSpPr/>
          <p:nvPr/>
        </p:nvSpPr>
        <p:spPr>
          <a:xfrm>
            <a:off x="342235" y="269137"/>
            <a:ext cx="599410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63" b="1" dirty="0">
                <a:solidFill>
                  <a:srgbClr val="585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6.운영지침: </a:t>
            </a:r>
            <a:r>
              <a:rPr lang="en-US" sz="2763" b="1" dirty="0" err="1">
                <a:solidFill>
                  <a:srgbClr val="585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</a:t>
            </a:r>
            <a:r>
              <a:rPr lang="en-US" sz="2763" b="1" dirty="0">
                <a:solidFill>
                  <a:srgbClr val="585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Secret 등록 워크플로우</a:t>
            </a:r>
            <a:endParaRPr lang="en-US" sz="276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036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028624" y="3209703"/>
            <a:ext cx="2767788" cy="5050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63" b="1" dirty="0">
                <a:solidFill>
                  <a:srgbClr val="3B3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권한(Least Privilege) 원칙 준</a:t>
            </a:r>
            <a:endParaRPr lang="en-US" sz="1363" dirty="0"/>
          </a:p>
          <a:p>
            <a:pPr marL="0" indent="0" algn="l">
              <a:buNone/>
            </a:pPr>
            <a:r>
              <a:rPr lang="en-US" sz="1363" b="1" dirty="0">
                <a:solidFill>
                  <a:srgbClr val="3B3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수(Secrets User 역할만 부여)</a:t>
            </a:r>
            <a:endParaRPr lang="en-US" sz="1363" dirty="0"/>
          </a:p>
        </p:txBody>
      </p:sp>
      <p:sp>
        <p:nvSpPr>
          <p:cNvPr id="6" name="Text 3"/>
          <p:cNvSpPr/>
          <p:nvPr/>
        </p:nvSpPr>
        <p:spPr>
          <a:xfrm>
            <a:off x="4807733" y="3239608"/>
            <a:ext cx="209328" cy="225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93" b="1" dirty="0">
                <a:solidFill>
                  <a:srgbClr val="26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693" dirty="0"/>
          </a:p>
        </p:txBody>
      </p:sp>
      <p:sp>
        <p:nvSpPr>
          <p:cNvPr id="7" name="Text 4"/>
          <p:cNvSpPr/>
          <p:nvPr/>
        </p:nvSpPr>
        <p:spPr>
          <a:xfrm>
            <a:off x="5021979" y="2747852"/>
            <a:ext cx="3538648" cy="2691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76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운영/스테이징/개발 환경별 Key Vault 완벽 분리</a:t>
            </a:r>
            <a:endParaRPr lang="en-US" sz="1376" dirty="0"/>
          </a:p>
        </p:txBody>
      </p:sp>
      <p:sp>
        <p:nvSpPr>
          <p:cNvPr id="8" name="Text 5"/>
          <p:cNvSpPr/>
          <p:nvPr/>
        </p:nvSpPr>
        <p:spPr>
          <a:xfrm>
            <a:off x="4807733" y="2781078"/>
            <a:ext cx="202683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35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735" dirty="0"/>
          </a:p>
        </p:txBody>
      </p:sp>
      <p:sp>
        <p:nvSpPr>
          <p:cNvPr id="9" name="Text 6"/>
          <p:cNvSpPr/>
          <p:nvPr/>
        </p:nvSpPr>
        <p:spPr>
          <a:xfrm>
            <a:off x="5028624" y="2295968"/>
            <a:ext cx="3588488" cy="2658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2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application.yml 기본값 내 Secret </a:t>
            </a:r>
            <a:r>
              <a:rPr lang="ko-KR" altLang="en-US" sz="1342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r>
              <a:rPr lang="en-US" sz="1342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하드코딩 금지</a:t>
            </a:r>
            <a:endParaRPr lang="en-US" sz="1342" dirty="0"/>
          </a:p>
        </p:txBody>
      </p:sp>
      <p:sp>
        <p:nvSpPr>
          <p:cNvPr id="10" name="Text 7"/>
          <p:cNvSpPr/>
          <p:nvPr/>
        </p:nvSpPr>
        <p:spPr>
          <a:xfrm>
            <a:off x="4807733" y="2329195"/>
            <a:ext cx="19936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61" b="1" dirty="0">
                <a:solidFill>
                  <a:srgbClr val="242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661" dirty="0"/>
          </a:p>
        </p:txBody>
      </p:sp>
      <p:sp>
        <p:nvSpPr>
          <p:cNvPr id="11" name="Text 8"/>
          <p:cNvSpPr/>
          <p:nvPr/>
        </p:nvSpPr>
        <p:spPr>
          <a:xfrm>
            <a:off x="4827669" y="1834116"/>
            <a:ext cx="3402419" cy="2658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5" b="1" dirty="0">
                <a:solidFill>
                  <a:srgbClr val="3F3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</a:t>
            </a:r>
            <a:r>
              <a:rPr lang="en-US" sz="1465" b="1" dirty="0" err="1">
                <a:solidFill>
                  <a:srgbClr val="3F3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</a:t>
            </a:r>
            <a:r>
              <a:rPr lang="en-US" sz="1465" b="1" dirty="0">
                <a:solidFill>
                  <a:srgbClr val="3F3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저장소에 실제 AES 키 커밋 절대 금지</a:t>
            </a:r>
            <a:endParaRPr lang="en-US" sz="1465" dirty="0"/>
          </a:p>
        </p:txBody>
      </p:sp>
      <p:sp>
        <p:nvSpPr>
          <p:cNvPr id="12" name="Text 9"/>
          <p:cNvSpPr/>
          <p:nvPr/>
        </p:nvSpPr>
        <p:spPr>
          <a:xfrm>
            <a:off x="4814378" y="1375587"/>
            <a:ext cx="3495453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78" b="1" dirty="0">
                <a:solidFill>
                  <a:srgbClr val="6F6F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4계명 (Security 4Commandments)</a:t>
            </a:r>
            <a:endParaRPr lang="en-US" sz="1478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355" y="1339038"/>
            <a:ext cx="13291" cy="32263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247" y="2744529"/>
            <a:ext cx="3462227" cy="4950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15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누락 발생 시 예외 메시지로 즉각 원인 식별</a:t>
            </a:r>
            <a:endParaRPr lang="en-US" sz="1415" dirty="0"/>
          </a:p>
          <a:p>
            <a:pPr marL="0" indent="0" algn="l">
              <a:buNone/>
            </a:pPr>
            <a:r>
              <a:rPr lang="en-US" sz="1415" b="1" dirty="0" err="1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가능한지</a:t>
            </a:r>
            <a:r>
              <a:rPr lang="en-US" sz="1415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1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20" y="2801015"/>
            <a:ext cx="179424" cy="1860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7602" y="2292645"/>
            <a:ext cx="3525358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94" b="1" dirty="0">
                <a:solidFill>
                  <a:srgbClr val="3E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애플리케이션 기동 후 정상 암복호화 동작 테스트</a:t>
            </a:r>
            <a:endParaRPr lang="en-US" sz="1394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20" y="2345808"/>
            <a:ext cx="179424" cy="1827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4247" y="1837439"/>
            <a:ext cx="3080119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89" b="1" dirty="0">
                <a:solidFill>
                  <a:srgbClr val="3939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로그에 Secret 평문값 노출 여부 점검</a:t>
            </a:r>
            <a:endParaRPr lang="en-US" sz="1389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20" y="1887279"/>
            <a:ext cx="179424" cy="18607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1852" y="1372265"/>
            <a:ext cx="379781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2" b="1" dirty="0">
                <a:solidFill>
                  <a:srgbClr val="6F6F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후 검증 체크리스트 (Validation Checklist)</a:t>
            </a:r>
            <a:endParaRPr lang="en-US" sz="1442" dirty="0"/>
          </a:p>
        </p:txBody>
      </p:sp>
      <p:sp>
        <p:nvSpPr>
          <p:cNvPr id="21" name="Text 14"/>
          <p:cNvSpPr/>
          <p:nvPr/>
        </p:nvSpPr>
        <p:spPr>
          <a:xfrm>
            <a:off x="378785" y="292395"/>
            <a:ext cx="3628360" cy="382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최종 검증 및 보안 운영 원칙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99DC3D-3C72-4E6E-A94E-BA70A8E4D12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470a74c-9f52-4e43-b328-141a66589f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772</Words>
  <Application>Microsoft Office PowerPoint</Application>
  <PresentationFormat>화면 슬라이드 쇼(16:9)</PresentationFormat>
  <Paragraphs>162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</vt:lpstr>
      <vt:lpstr>Arial</vt:lpstr>
      <vt:lpstr>Inter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종훈 고</cp:lastModifiedBy>
  <cp:revision>12</cp:revision>
  <dcterms:created xsi:type="dcterms:W3CDTF">2026-04-13T01:43:35Z</dcterms:created>
  <dcterms:modified xsi:type="dcterms:W3CDTF">2026-04-13T02:02:03Z</dcterms:modified>
</cp:coreProperties>
</file>